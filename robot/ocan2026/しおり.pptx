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6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231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777240" cy="777240"/>
          </a:xfrm>
          <a:prstGeom prst="ellipse">
            <a:avLst/>
          </a:prstGeom>
          <a:solidFill>
            <a:srgbClr val="FF6F5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38912"/>
            <a:ext cx="5733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走れ！ロボットカー！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1173794"/>
            <a:ext cx="6647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車両型ロボットを使って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ライントレースをC言語で体験しよう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5459653"/>
            <a:ext cx="6647688" cy="8280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blurRad="76200" dist="25400" dir="5400000" algn="bl" rotWithShape="0">
              <a:srgbClr val="8CA0C7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1508760" y="5395802"/>
            <a:ext cx="5504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レゴを用いた</a:t>
            </a:r>
            <a:r>
              <a:rPr lang="en-US" sz="1350" dirty="0" err="1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ロボットカーで、いっしょに体験してみよう</a:t>
            </a: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7200" y="6457511"/>
            <a:ext cx="6647688" cy="7920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blurRad="76200" dist="25400" dir="5400000" algn="bl" rotWithShape="0">
              <a:srgbClr val="8CA0C7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2"/>
          <p:cNvSpPr/>
          <p:nvPr/>
        </p:nvSpPr>
        <p:spPr>
          <a:xfrm>
            <a:off x="1508760" y="6369892"/>
            <a:ext cx="5504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 err="1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曲がりくねったコースを</a:t>
            </a: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ja-JP" alt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</a:t>
            </a:r>
            <a:r>
              <a:rPr lang="en-US" sz="1350" dirty="0" err="1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走らせよう</a:t>
            </a: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" y="7465762"/>
            <a:ext cx="6647688" cy="7920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blurRad="76200" dist="25400" dir="5400000" algn="bl" rotWithShape="0">
              <a:srgbClr val="8CA0C7">
                <a:alpha val="25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5"/>
          <p:cNvSpPr/>
          <p:nvPr/>
        </p:nvSpPr>
        <p:spPr>
          <a:xfrm>
            <a:off x="1508760" y="7381702"/>
            <a:ext cx="5504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プログラミングを知らなくても大丈夫！０からやさしく説明します</a:t>
            </a:r>
            <a:r>
              <a:rPr lang="ja-JP" altLang="en-US" sz="1350" dirty="0">
                <a:solidFill>
                  <a:schemeClr val="accent1">
                    <a:lumMod val="5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13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457200" y="8512307"/>
            <a:ext cx="6647688" cy="1896833"/>
          </a:xfrm>
          <a:prstGeom prst="roundRect">
            <a:avLst>
              <a:gd name="adj" fmla="val 7947"/>
            </a:avLst>
          </a:prstGeom>
          <a:solidFill>
            <a:srgbClr val="FFF6E9"/>
          </a:solidFill>
          <a:ln w="15875">
            <a:solidFill>
              <a:srgbClr val="FFDFA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0616E33-A596-9232-88B7-369E5667FF01}"/>
              </a:ext>
            </a:extLst>
          </p:cNvPr>
          <p:cNvGrpSpPr/>
          <p:nvPr/>
        </p:nvGrpSpPr>
        <p:grpSpPr>
          <a:xfrm>
            <a:off x="653868" y="8581754"/>
            <a:ext cx="576000" cy="576000"/>
            <a:chOff x="685800" y="9070848"/>
            <a:chExt cx="457200" cy="457200"/>
          </a:xfrm>
        </p:grpSpPr>
        <p:sp>
          <p:nvSpPr>
            <p:cNvPr id="23" name="Shape 17"/>
            <p:cNvSpPr/>
            <p:nvPr/>
          </p:nvSpPr>
          <p:spPr>
            <a:xfrm>
              <a:off x="685800" y="9070848"/>
              <a:ext cx="457200" cy="457200"/>
            </a:xfrm>
            <a:prstGeom prst="ellipse">
              <a:avLst/>
            </a:prstGeom>
            <a:solidFill>
              <a:srgbClr val="FF6F59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24" name="Image 4" descr="/home/claude/assets/pi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980" y="9169101"/>
              <a:ext cx="285750" cy="285750"/>
            </a:xfrm>
            <a:prstGeom prst="rect">
              <a:avLst/>
            </a:prstGeom>
          </p:spPr>
        </p:pic>
      </p:grpSp>
      <p:sp>
        <p:nvSpPr>
          <p:cNvPr id="25" name="Text 18"/>
          <p:cNvSpPr/>
          <p:nvPr/>
        </p:nvSpPr>
        <p:spPr>
          <a:xfrm>
            <a:off x="1508760" y="8600647"/>
            <a:ext cx="5733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一般棟</a:t>
            </a:r>
            <a:r>
              <a:rPr lang="en-US" sz="17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3階 32番教室</a:t>
            </a:r>
            <a:endParaRPr lang="en-US" sz="1700" dirty="0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40210E67-5A8B-6212-22EB-D9609F9D096E}"/>
              </a:ext>
            </a:extLst>
          </p:cNvPr>
          <p:cNvGrpSpPr/>
          <p:nvPr/>
        </p:nvGrpSpPr>
        <p:grpSpPr>
          <a:xfrm>
            <a:off x="653868" y="9460724"/>
            <a:ext cx="576000" cy="576000"/>
            <a:chOff x="685800" y="10067544"/>
            <a:chExt cx="457200" cy="457200"/>
          </a:xfrm>
        </p:grpSpPr>
        <p:sp>
          <p:nvSpPr>
            <p:cNvPr id="26" name="Shape 19"/>
            <p:cNvSpPr/>
            <p:nvPr/>
          </p:nvSpPr>
          <p:spPr>
            <a:xfrm>
              <a:off x="685800" y="10067544"/>
              <a:ext cx="457200" cy="457200"/>
            </a:xfrm>
            <a:prstGeom prst="ellipse">
              <a:avLst/>
            </a:prstGeom>
            <a:solidFill>
              <a:srgbClr val="FFB238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27" name="Image 5" descr="/home/claude/assets/cloc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1525" y="10153269"/>
              <a:ext cx="285750" cy="285750"/>
            </a:xfrm>
            <a:prstGeom prst="rect">
              <a:avLst/>
            </a:prstGeom>
          </p:spPr>
        </p:pic>
      </p:grpSp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9FC4EAC6-9C7C-B356-E618-93D1FD224B88}"/>
              </a:ext>
            </a:extLst>
          </p:cNvPr>
          <p:cNvGrpSpPr/>
          <p:nvPr/>
        </p:nvGrpSpPr>
        <p:grpSpPr>
          <a:xfrm>
            <a:off x="1331506" y="9244724"/>
            <a:ext cx="2772000" cy="504000"/>
            <a:chOff x="1280160" y="9295180"/>
            <a:chExt cx="2788539" cy="532235"/>
          </a:xfrm>
        </p:grpSpPr>
        <p:sp>
          <p:nvSpPr>
            <p:cNvPr id="28" name="Shape 20"/>
            <p:cNvSpPr/>
            <p:nvPr/>
          </p:nvSpPr>
          <p:spPr>
            <a:xfrm>
              <a:off x="1293495" y="9295180"/>
              <a:ext cx="2775204" cy="502920"/>
            </a:xfrm>
            <a:prstGeom prst="roundRect">
              <a:avLst>
                <a:gd name="adj" fmla="val 49091"/>
              </a:avLst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Text 21"/>
            <p:cNvSpPr/>
            <p:nvPr/>
          </p:nvSpPr>
          <p:spPr>
            <a:xfrm>
              <a:off x="1280160" y="9324495"/>
              <a:ext cx="277520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Yu Gothic" pitchFamily="34" charset="0"/>
                  <a:ea typeface="Yu Gothic" pitchFamily="34" charset="-122"/>
                  <a:cs typeface="Yu Gothic" pitchFamily="34" charset="-120"/>
                </a:rPr>
                <a:t>9:40〜</a:t>
              </a:r>
              <a:endParaRPr lang="en-US" sz="1500" dirty="0"/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3397A60A-F81B-13AF-838E-271C68F95DE7}"/>
              </a:ext>
            </a:extLst>
          </p:cNvPr>
          <p:cNvGrpSpPr/>
          <p:nvPr/>
        </p:nvGrpSpPr>
        <p:grpSpPr>
          <a:xfrm>
            <a:off x="4136982" y="9231408"/>
            <a:ext cx="2772000" cy="502920"/>
            <a:chOff x="3872484" y="9720072"/>
            <a:chExt cx="2775204" cy="502920"/>
          </a:xfrm>
        </p:grpSpPr>
        <p:sp>
          <p:nvSpPr>
            <p:cNvPr id="30" name="Shape 22"/>
            <p:cNvSpPr/>
            <p:nvPr/>
          </p:nvSpPr>
          <p:spPr>
            <a:xfrm>
              <a:off x="3872484" y="9720072"/>
              <a:ext cx="2775204" cy="502920"/>
            </a:xfrm>
            <a:prstGeom prst="roundRect">
              <a:avLst>
                <a:gd name="adj" fmla="val 49091"/>
              </a:avLst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Text 23"/>
            <p:cNvSpPr/>
            <p:nvPr/>
          </p:nvSpPr>
          <p:spPr>
            <a:xfrm>
              <a:off x="3872484" y="9720072"/>
              <a:ext cx="277520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Yu Gothic" pitchFamily="34" charset="0"/>
                  <a:ea typeface="Yu Gothic" pitchFamily="34" charset="-122"/>
                  <a:cs typeface="Yu Gothic" pitchFamily="34" charset="-120"/>
                </a:rPr>
                <a:t>10:40〜</a:t>
              </a:r>
              <a:endParaRPr lang="en-US" sz="1500" dirty="0"/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5B847706-AC2E-BA69-C0D5-DD87578A6448}"/>
              </a:ext>
            </a:extLst>
          </p:cNvPr>
          <p:cNvGrpSpPr/>
          <p:nvPr/>
        </p:nvGrpSpPr>
        <p:grpSpPr>
          <a:xfrm>
            <a:off x="1338134" y="9770511"/>
            <a:ext cx="2772000" cy="502920"/>
            <a:chOff x="914400" y="10369296"/>
            <a:chExt cx="2775204" cy="502920"/>
          </a:xfrm>
        </p:grpSpPr>
        <p:sp>
          <p:nvSpPr>
            <p:cNvPr id="32" name="Shape 24"/>
            <p:cNvSpPr/>
            <p:nvPr/>
          </p:nvSpPr>
          <p:spPr>
            <a:xfrm>
              <a:off x="914400" y="10369296"/>
              <a:ext cx="2775204" cy="502920"/>
            </a:xfrm>
            <a:prstGeom prst="roundRect">
              <a:avLst>
                <a:gd name="adj" fmla="val 49091"/>
              </a:avLst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Text 25"/>
            <p:cNvSpPr/>
            <p:nvPr/>
          </p:nvSpPr>
          <p:spPr>
            <a:xfrm>
              <a:off x="914400" y="10369296"/>
              <a:ext cx="277520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Yu Gothic" pitchFamily="34" charset="0"/>
                  <a:ea typeface="Yu Gothic" pitchFamily="34" charset="-122"/>
                  <a:cs typeface="Yu Gothic" pitchFamily="34" charset="-120"/>
                </a:rPr>
                <a:t>13:40〜</a:t>
              </a:r>
              <a:endParaRPr lang="en-US" sz="1500" dirty="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A8F2B756-4378-1978-2267-D8922764F058}"/>
              </a:ext>
            </a:extLst>
          </p:cNvPr>
          <p:cNvGrpSpPr/>
          <p:nvPr/>
        </p:nvGrpSpPr>
        <p:grpSpPr>
          <a:xfrm>
            <a:off x="4136982" y="9792495"/>
            <a:ext cx="2772000" cy="502920"/>
            <a:chOff x="3872484" y="10369296"/>
            <a:chExt cx="2775204" cy="502920"/>
          </a:xfrm>
        </p:grpSpPr>
        <p:sp>
          <p:nvSpPr>
            <p:cNvPr id="34" name="Shape 26"/>
            <p:cNvSpPr/>
            <p:nvPr/>
          </p:nvSpPr>
          <p:spPr>
            <a:xfrm>
              <a:off x="3872484" y="10369296"/>
              <a:ext cx="2775204" cy="502920"/>
            </a:xfrm>
            <a:prstGeom prst="roundRect">
              <a:avLst>
                <a:gd name="adj" fmla="val 49091"/>
              </a:avLst>
            </a:prstGeom>
            <a:solidFill>
              <a:srgbClr val="1E3A8A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Text 27"/>
            <p:cNvSpPr/>
            <p:nvPr/>
          </p:nvSpPr>
          <p:spPr>
            <a:xfrm>
              <a:off x="3872484" y="10369296"/>
              <a:ext cx="277520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Yu Gothic" pitchFamily="34" charset="0"/>
                  <a:ea typeface="Yu Gothic" pitchFamily="34" charset="-122"/>
                  <a:cs typeface="Yu Gothic" pitchFamily="34" charset="-120"/>
                </a:rPr>
                <a:t>14:40〜</a:t>
              </a:r>
              <a:endParaRPr lang="en-US" sz="1500" dirty="0"/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3FA54454-712B-D6D1-298F-BD33F5F92011}"/>
              </a:ext>
            </a:extLst>
          </p:cNvPr>
          <p:cNvGrpSpPr/>
          <p:nvPr/>
        </p:nvGrpSpPr>
        <p:grpSpPr>
          <a:xfrm>
            <a:off x="668528" y="5587136"/>
            <a:ext cx="576000" cy="576000"/>
            <a:chOff x="713232" y="5637276"/>
            <a:chExt cx="566928" cy="566928"/>
          </a:xfrm>
        </p:grpSpPr>
        <p:sp>
          <p:nvSpPr>
            <p:cNvPr id="11" name="Shape 8"/>
            <p:cNvSpPr/>
            <p:nvPr/>
          </p:nvSpPr>
          <p:spPr>
            <a:xfrm>
              <a:off x="713232" y="5637276"/>
              <a:ext cx="566928" cy="566928"/>
            </a:xfrm>
            <a:prstGeom prst="ellipse">
              <a:avLst/>
            </a:prstGeom>
            <a:solidFill>
              <a:srgbClr val="2F6FED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42" name="グラフィックス 41" descr="車 単色塗りつぶし">
              <a:extLst>
                <a:ext uri="{FF2B5EF4-FFF2-40B4-BE49-F238E27FC236}">
                  <a16:creationId xmlns:a16="http://schemas.microsoft.com/office/drawing/2014/main" id="{22371C11-D83E-5B61-3FB4-24A320953D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2959" y="5747765"/>
              <a:ext cx="354330" cy="354330"/>
            </a:xfrm>
            <a:prstGeom prst="rect">
              <a:avLst/>
            </a:prstGeom>
          </p:spPr>
        </p:pic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BDF2537F-DFB9-11C9-0EEE-BE793CFD7CEA}"/>
              </a:ext>
            </a:extLst>
          </p:cNvPr>
          <p:cNvGrpSpPr/>
          <p:nvPr/>
        </p:nvGrpSpPr>
        <p:grpSpPr>
          <a:xfrm>
            <a:off x="667512" y="6561952"/>
            <a:ext cx="576000" cy="576000"/>
            <a:chOff x="713232" y="6743700"/>
            <a:chExt cx="566928" cy="566928"/>
          </a:xfrm>
        </p:grpSpPr>
        <p:sp>
          <p:nvSpPr>
            <p:cNvPr id="15" name="Shape 11"/>
            <p:cNvSpPr/>
            <p:nvPr/>
          </p:nvSpPr>
          <p:spPr>
            <a:xfrm>
              <a:off x="713232" y="6743700"/>
              <a:ext cx="566928" cy="566928"/>
            </a:xfrm>
            <a:prstGeom prst="ellipse">
              <a:avLst/>
            </a:prstGeom>
            <a:solidFill>
              <a:srgbClr val="FF6F59"/>
            </a:solidFill>
            <a:ln/>
          </p:spPr>
          <p:txBody>
            <a:bodyPr/>
            <a:lstStyle/>
            <a:p>
              <a:endParaRPr lang="ja-JP" altLang="en-US" dirty="0"/>
            </a:p>
          </p:txBody>
        </p:sp>
        <p:pic>
          <p:nvPicPr>
            <p:cNvPr id="44" name="グラフィックス 43" descr="2 つのピン間の経路表示 単色塗りつぶし">
              <a:extLst>
                <a:ext uri="{FF2B5EF4-FFF2-40B4-BE49-F238E27FC236}">
                  <a16:creationId xmlns:a16="http://schemas.microsoft.com/office/drawing/2014/main" id="{2BC5FB3B-23D2-87CC-1D74-0571390A32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5012" y="6849999"/>
              <a:ext cx="354330" cy="354330"/>
            </a:xfrm>
            <a:prstGeom prst="rect">
              <a:avLst/>
            </a:prstGeom>
          </p:spPr>
        </p:pic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23D786AC-8F04-E5E8-3206-682AF217EA62}"/>
              </a:ext>
            </a:extLst>
          </p:cNvPr>
          <p:cNvGrpSpPr/>
          <p:nvPr/>
        </p:nvGrpSpPr>
        <p:grpSpPr>
          <a:xfrm>
            <a:off x="668528" y="7568490"/>
            <a:ext cx="576000" cy="576000"/>
            <a:chOff x="713232" y="7850124"/>
            <a:chExt cx="566928" cy="566928"/>
          </a:xfrm>
        </p:grpSpPr>
        <p:sp>
          <p:nvSpPr>
            <p:cNvPr id="19" name="Shape 14"/>
            <p:cNvSpPr/>
            <p:nvPr/>
          </p:nvSpPr>
          <p:spPr>
            <a:xfrm>
              <a:off x="713232" y="7850124"/>
              <a:ext cx="566928" cy="566928"/>
            </a:xfrm>
            <a:prstGeom prst="ellipse">
              <a:avLst/>
            </a:prstGeom>
            <a:solidFill>
              <a:srgbClr val="FFB238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46" name="グラフィックス 45" descr="電球 単色塗りつぶし">
              <a:extLst>
                <a:ext uri="{FF2B5EF4-FFF2-40B4-BE49-F238E27FC236}">
                  <a16:creationId xmlns:a16="http://schemas.microsoft.com/office/drawing/2014/main" id="{C97E925D-4803-7B94-7C18-AB0F99C655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0012" y="7917588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図 53" descr="The image shows a small, brightly colored LEGO robot, connected to various electronic components, placed on a wooden desk with scattered office supplies.&#10;&#10;AI 生成コンテンツは誤りを含む可能性があります。">
            <a:extLst>
              <a:ext uri="{FF2B5EF4-FFF2-40B4-BE49-F238E27FC236}">
                <a16:creationId xmlns:a16="http://schemas.microsoft.com/office/drawing/2014/main" id="{4E447F19-9E29-C70C-D496-6C03644A281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6457" b="19046"/>
          <a:stretch>
            <a:fillRect/>
          </a:stretch>
        </p:blipFill>
        <p:spPr>
          <a:xfrm>
            <a:off x="457200" y="2008177"/>
            <a:ext cx="6647688" cy="3215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43</Words>
  <Application>Microsoft Office PowerPoint</Application>
  <PresentationFormat>ユーザー設定</PresentationFormat>
  <Paragraphs>13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岩本 拓磨_宇部学生</cp:lastModifiedBy>
  <cp:revision>9</cp:revision>
  <dcterms:created xsi:type="dcterms:W3CDTF">2026-07-29T17:06:00Z</dcterms:created>
  <dcterms:modified xsi:type="dcterms:W3CDTF">2026-07-30T05:18:12Z</dcterms:modified>
</cp:coreProperties>
</file>